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presProps" Target="pres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notesMaster" Target="notesMasters/notesMaster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F23164-D617-7643-84C1-A9796064898F}" type="datetimeFigureOut">
              <a:rPr lang="it-IT" smtClean="0"/>
              <a:t>13/09/2026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DEC1C8-6373-6F45-B091-01EEC76A5D6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19585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2.png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2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B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forge_trails_clean_da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0"/>
            <a:ext cx="482803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14032" y="502920"/>
            <a:ext cx="0" cy="5852160"/>
          </a:xfrm>
          <a:prstGeom prst="line">
            <a:avLst/>
          </a:prstGeom>
          <a:noFill/>
          <a:ln w="13970">
            <a:solidFill>
              <a:srgbClr val="E85B22">
                <a:alpha val="85000"/>
              </a:srgbClr>
            </a:solidFill>
            <a:prstDash val="solid"/>
          </a:ln>
        </p:spPr>
      </p:sp>
      <p:pic>
        <p:nvPicPr>
          <p:cNvPr id="4" name="Image 1" descr="/mnt/data/DA06D35F-F19B-4F89-8BD1-0EC00DCEBFF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20040"/>
            <a:ext cx="1143000" cy="1143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49808" y="1554480"/>
            <a:ext cx="47548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EFECE4"/>
                </a:solidFill>
              </a:rPr>
              <a:t>FORGE PH</a:t>
            </a:r>
            <a:endParaRPr lang="en-US" sz="3800" dirty="0"/>
          </a:p>
        </p:txBody>
      </p:sp>
      <p:sp>
        <p:nvSpPr>
          <p:cNvPr id="6" name="Text 2"/>
          <p:cNvSpPr/>
          <p:nvPr/>
        </p:nvSpPr>
        <p:spPr>
          <a:xfrm>
            <a:off x="768096" y="2139696"/>
            <a:ext cx="6217920" cy="2468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FECE4"/>
                </a:solidFill>
              </a:rPr>
              <a:t>STARTUP INVESTMENT COMPOUND</a:t>
            </a:r>
            <a:endParaRPr lang="en-US" sz="1450" dirty="0"/>
          </a:p>
        </p:txBody>
      </p:sp>
      <p:sp>
        <p:nvSpPr>
          <p:cNvPr id="7" name="Text 3"/>
          <p:cNvSpPr/>
          <p:nvPr/>
        </p:nvSpPr>
        <p:spPr>
          <a:xfrm>
            <a:off x="786384" y="257860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EFECE4"/>
                </a:solidFill>
              </a:rPr>
              <a:t>An event built like a startup.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786384" y="3108960"/>
            <a:ext cx="914400" cy="0"/>
          </a:xfrm>
          <a:prstGeom prst="line">
            <a:avLst/>
          </a:prstGeom>
          <a:noFill/>
          <a:ln w="30480">
            <a:solidFill>
              <a:srgbClr val="E85B2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86384" y="3337560"/>
            <a:ext cx="516636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EFECE4"/>
                </a:solidFill>
              </a:rPr>
              <a:t>FORGE tests whether new cross-border configurations can make startups more investable and capital more deployable.</a:t>
            </a:r>
            <a:endParaRPr lang="en-US" sz="1650" dirty="0"/>
          </a:p>
        </p:txBody>
      </p:sp>
      <p:sp>
        <p:nvSpPr>
          <p:cNvPr id="10" name="Shape 6"/>
          <p:cNvSpPr/>
          <p:nvPr/>
        </p:nvSpPr>
        <p:spPr>
          <a:xfrm>
            <a:off x="777240" y="4251960"/>
            <a:ext cx="1234440" cy="310896"/>
          </a:xfrm>
          <a:prstGeom prst="roundRect">
            <a:avLst>
              <a:gd name="adj" fmla="val 17647"/>
            </a:avLst>
          </a:prstGeom>
          <a:solidFill>
            <a:srgbClr val="111A25">
              <a:alpha val="92000"/>
            </a:srgbClr>
          </a:solidFill>
          <a:ln w="12700">
            <a:solidFill>
              <a:srgbClr val="E85B22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86968" y="4325112"/>
            <a:ext cx="1014984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FECE4"/>
                </a:solidFill>
              </a:rPr>
              <a:t>INNOVATORS</a:t>
            </a:r>
            <a:endParaRPr lang="en-US" sz="750" dirty="0"/>
          </a:p>
        </p:txBody>
      </p:sp>
      <p:sp>
        <p:nvSpPr>
          <p:cNvPr id="12" name="Shape 8"/>
          <p:cNvSpPr/>
          <p:nvPr/>
        </p:nvSpPr>
        <p:spPr>
          <a:xfrm>
            <a:off x="2176272" y="4251960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111A25">
              <a:alpha val="92000"/>
            </a:srgbClr>
          </a:solidFill>
          <a:ln w="12700">
            <a:solidFill>
              <a:srgbClr val="E85B2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286000" y="4325112"/>
            <a:ext cx="1197864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FECE4"/>
                </a:solidFill>
              </a:rPr>
              <a:t>CAPABILITIES</a:t>
            </a:r>
            <a:endParaRPr lang="en-US" sz="750" dirty="0"/>
          </a:p>
        </p:txBody>
      </p:sp>
      <p:sp>
        <p:nvSpPr>
          <p:cNvPr id="14" name="Shape 10"/>
          <p:cNvSpPr/>
          <p:nvPr/>
        </p:nvSpPr>
        <p:spPr>
          <a:xfrm>
            <a:off x="3767328" y="4251960"/>
            <a:ext cx="1874520" cy="310896"/>
          </a:xfrm>
          <a:prstGeom prst="roundRect">
            <a:avLst>
              <a:gd name="adj" fmla="val 17647"/>
            </a:avLst>
          </a:prstGeom>
          <a:solidFill>
            <a:srgbClr val="111A25">
              <a:alpha val="92000"/>
            </a:srgbClr>
          </a:solidFill>
          <a:ln w="12700">
            <a:solidFill>
              <a:srgbClr val="E85B22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877056" y="4325112"/>
            <a:ext cx="1655064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FECE4"/>
                </a:solidFill>
              </a:rPr>
              <a:t>CONFIGURATIONS</a:t>
            </a:r>
            <a:endParaRPr lang="en-US" sz="750" dirty="0"/>
          </a:p>
        </p:txBody>
      </p:sp>
      <p:sp>
        <p:nvSpPr>
          <p:cNvPr id="16" name="Shape 12"/>
          <p:cNvSpPr/>
          <p:nvPr/>
        </p:nvSpPr>
        <p:spPr>
          <a:xfrm>
            <a:off x="5806440" y="4251960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111A25">
              <a:alpha val="92000"/>
            </a:srgbClr>
          </a:solidFill>
          <a:ln w="12700">
            <a:solidFill>
              <a:srgbClr val="E85B22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916168" y="4325112"/>
            <a:ext cx="1197864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FECE4"/>
                </a:solidFill>
              </a:rPr>
              <a:t>SMART CAPITAL</a:t>
            </a:r>
            <a:endParaRPr lang="en-US" sz="750" dirty="0"/>
          </a:p>
        </p:txBody>
      </p:sp>
      <p:sp>
        <p:nvSpPr>
          <p:cNvPr id="18" name="Shape 14"/>
          <p:cNvSpPr/>
          <p:nvPr/>
        </p:nvSpPr>
        <p:spPr>
          <a:xfrm>
            <a:off x="713232" y="5257800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000000">
              <a:alpha val="82000"/>
            </a:srgbClr>
          </a:solidFill>
          <a:ln w="13970">
            <a:solidFill>
              <a:srgbClr val="E85B22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960120" y="5495544"/>
            <a:ext cx="48920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EFECE4"/>
                </a:solidFill>
              </a:rPr>
              <a:t>29 OCTOBER 2026  •  DUSIT THANI MANILA, MAKATI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0312"/>
            <a:ext cx="868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25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627632" y="2011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E85B22"/>
                </a:solidFill>
              </a:rPr>
              <a:t>PH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993392" y="228600"/>
            <a:ext cx="3474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667080"/>
                </a:solidFill>
              </a:rPr>
              <a:t>THESIS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566928" y="502920"/>
            <a:ext cx="11064240" cy="0"/>
          </a:xfrm>
          <a:prstGeom prst="line">
            <a:avLst/>
          </a:prstGeom>
          <a:noFill/>
          <a:ln w="8890">
            <a:solidFill>
              <a:srgbClr val="D4CE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65392"/>
            <a:ext cx="4572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E858C"/>
                </a:solidFill>
              </a:rPr>
              <a:t>FORGE PH PITCH  •  SEPTEMBER 2026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11384280" y="6547104"/>
            <a:ext cx="25603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7E858C"/>
                </a:solidFill>
              </a:rPr>
              <a:t>01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676656" y="7772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000" dirty="0">
                <a:solidFill>
                  <a:srgbClr val="1125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thesis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13232" y="1536192"/>
            <a:ext cx="8778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3A4656"/>
                </a:solidFill>
              </a:rPr>
              <a:t>FORGE does not just improve startups. It tests the configuration that can make them investable.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76656" y="1920240"/>
            <a:ext cx="10561320" cy="1143000"/>
          </a:xfrm>
          <a:prstGeom prst="roundRect">
            <a:avLst>
              <a:gd name="adj" fmla="val 6400"/>
            </a:avLst>
          </a:prstGeom>
          <a:solidFill>
            <a:srgbClr val="11253A"/>
          </a:solidFill>
          <a:ln w="12700">
            <a:solidFill>
              <a:srgbClr val="1125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02736" y="2121408"/>
            <a:ext cx="0" cy="740664"/>
          </a:xfrm>
          <a:prstGeom prst="line">
            <a:avLst/>
          </a:prstGeom>
          <a:noFill/>
          <a:ln w="12700">
            <a:solidFill>
              <a:srgbClr val="E85B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9264" y="21945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EFEC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idea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922776" y="2221992"/>
            <a:ext cx="69951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FECE4"/>
                </a:solidFill>
              </a:rPr>
              <a:t>Accelerators improve startups. Venture studios build startups. VCs fund startups. FORGE would design, finance and test the temporary configuration that changes the risk.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345643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E85B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68680" y="3931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A4656"/>
                </a:solidFill>
              </a:rPr>
              <a:t>Startup remains the venture, but the configuration becomes the unit of intervention.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337560" y="345643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E85B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337560" y="3931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A4656"/>
                </a:solidFill>
              </a:rPr>
              <a:t>Capital is sequenced to fund the change that changes the risk.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806440" y="345643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E85B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806440" y="3931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A4656"/>
                </a:solidFill>
              </a:rPr>
              <a:t>The 90-day cycle measures whether investability actually improves.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275320" y="345643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E85B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275320" y="3931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A4656"/>
                </a:solidFill>
              </a:rPr>
              <a:t>The corridor brings international capabilities into local and ASEAN opportunities.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B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0312"/>
            <a:ext cx="868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ECE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627632" y="2011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E85B22"/>
                </a:solidFill>
              </a:rPr>
              <a:t>PH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993392" y="228600"/>
            <a:ext cx="3474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AEB7C4"/>
                </a:solidFill>
              </a:rPr>
              <a:t>PROBLEM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566928" y="502920"/>
            <a:ext cx="11064240" cy="0"/>
          </a:xfrm>
          <a:prstGeom prst="line">
            <a:avLst/>
          </a:prstGeom>
          <a:noFill/>
          <a:ln w="8890">
            <a:solidFill>
              <a:srgbClr val="2933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65392"/>
            <a:ext cx="4572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F8996"/>
                </a:solidFill>
              </a:rPr>
              <a:t>FORGE PH PITCH  •  SEPTEMBER 2026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11384280" y="6547104"/>
            <a:ext cx="25603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7F8996"/>
                </a:solidFill>
              </a:rPr>
              <a:t>02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676656" y="7772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000" dirty="0">
                <a:solidFill>
                  <a:srgbClr val="EFEC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is not visibility.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13232" y="1536192"/>
            <a:ext cx="8778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B7BEC7"/>
                </a:solidFill>
              </a:rPr>
              <a:t>It is the gap between opportunity and investability.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13232" y="2057400"/>
            <a:ext cx="2606040" cy="1078992"/>
          </a:xfrm>
          <a:prstGeom prst="roundRect">
            <a:avLst>
              <a:gd name="adj" fmla="val 6780"/>
            </a:avLst>
          </a:prstGeom>
          <a:solidFill>
            <a:srgbClr val="101925"/>
          </a:solidFill>
          <a:ln w="12700">
            <a:solidFill>
              <a:srgbClr val="E85B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2221992"/>
            <a:ext cx="2276856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E85B22"/>
                </a:solidFill>
              </a:rPr>
              <a:t>FOUNDERS ARE VISIBLE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77824" y="2587752"/>
            <a:ext cx="2276856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7BEC7"/>
                </a:solidFill>
              </a:rPr>
              <a:t>But investors still need clearer evidence, governance, capital sequence and execution conditions.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520440" y="2057400"/>
            <a:ext cx="2606040" cy="1078992"/>
          </a:xfrm>
          <a:prstGeom prst="roundRect">
            <a:avLst>
              <a:gd name="adj" fmla="val 6780"/>
            </a:avLst>
          </a:prstGeom>
          <a:solidFill>
            <a:srgbClr val="101925"/>
          </a:solidFill>
          <a:ln w="12700">
            <a:solidFill>
              <a:srgbClr val="E85B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85032" y="2221992"/>
            <a:ext cx="2276856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E85B22"/>
                </a:solidFill>
              </a:rPr>
              <a:t>INVESTORS SEE RISK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85032" y="2587752"/>
            <a:ext cx="2276856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7BEC7"/>
                </a:solidFill>
              </a:rPr>
              <a:t>But not always the path, cost or capability needed to reduce it.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27648" y="2057400"/>
            <a:ext cx="2606040" cy="1078992"/>
          </a:xfrm>
          <a:prstGeom prst="roundRect">
            <a:avLst>
              <a:gd name="adj" fmla="val 6780"/>
            </a:avLst>
          </a:prstGeom>
          <a:solidFill>
            <a:srgbClr val="101925"/>
          </a:solidFill>
          <a:ln w="12700">
            <a:solidFill>
              <a:srgbClr val="E85B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2221992"/>
            <a:ext cx="2276856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E85B22"/>
                </a:solidFill>
              </a:rPr>
              <a:t>CAPABILITIES EXIST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92240" y="2587752"/>
            <a:ext cx="2276856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7BEC7"/>
                </a:solidFill>
              </a:rPr>
              <a:t>But remain outside the deal or outside the country when the startup needs them most.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134856" y="2057400"/>
            <a:ext cx="2331720" cy="1078992"/>
          </a:xfrm>
          <a:prstGeom prst="roundRect">
            <a:avLst>
              <a:gd name="adj" fmla="val 6780"/>
            </a:avLst>
          </a:prstGeom>
          <a:solidFill>
            <a:srgbClr val="101925"/>
          </a:solidFill>
          <a:ln w="12700">
            <a:solidFill>
              <a:srgbClr val="E85B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99448" y="2221992"/>
            <a:ext cx="2002536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E85B22"/>
                </a:solidFill>
              </a:rPr>
              <a:t>EVENTS STOP EARLY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9299448" y="2587752"/>
            <a:ext cx="2002536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7BEC7"/>
                </a:solidFill>
              </a:rPr>
              <a:t>They create contacts, not enough owned next steps and measurable continuation.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13232" y="3977640"/>
            <a:ext cx="10744200" cy="1005840"/>
          </a:xfrm>
          <a:prstGeom prst="roundRect">
            <a:avLst>
              <a:gd name="adj" fmla="val 7273"/>
            </a:avLst>
          </a:prstGeom>
          <a:solidFill>
            <a:srgbClr val="11253A"/>
          </a:solidFill>
          <a:ln w="12700">
            <a:solidFill>
              <a:srgbClr val="1125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39312" y="4178808"/>
            <a:ext cx="0" cy="603504"/>
          </a:xfrm>
          <a:prstGeom prst="line">
            <a:avLst/>
          </a:prstGeom>
          <a:noFill/>
          <a:ln w="12700">
            <a:solidFill>
              <a:srgbClr val="E85B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4251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EFEC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in one line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3959352" y="4279392"/>
            <a:ext cx="71780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FECE4"/>
                </a:solidFill>
              </a:rPr>
              <a:t>The ecosystem does not lack people, ideas or capital. It lacks a repeatable way to configure them, de-risk the opportunity and convert signals into owned next steps.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0312"/>
            <a:ext cx="868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25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627632" y="2011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E85B22"/>
                </a:solidFill>
              </a:rPr>
              <a:t>PH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993392" y="228600"/>
            <a:ext cx="3474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667080"/>
                </a:solidFill>
              </a:rPr>
              <a:t>WHAT CHANGES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566928" y="502920"/>
            <a:ext cx="11064240" cy="0"/>
          </a:xfrm>
          <a:prstGeom prst="line">
            <a:avLst/>
          </a:prstGeom>
          <a:noFill/>
          <a:ln w="8890">
            <a:solidFill>
              <a:srgbClr val="D4CE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65392"/>
            <a:ext cx="4572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E858C"/>
                </a:solidFill>
              </a:rPr>
              <a:t>FORGE PH PITCH  •  SEPTEMBER 2026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11384280" y="6547104"/>
            <a:ext cx="25603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7E858C"/>
                </a:solidFill>
              </a:rPr>
              <a:t>03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676656" y="7772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000" dirty="0">
                <a:solidFill>
                  <a:srgbClr val="1125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FORGE changes the unit of value.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13232" y="1536192"/>
            <a:ext cx="8778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3A4656"/>
                </a:solidFill>
              </a:rPr>
              <a:t>From “the startup alone” to the temporary configuration around the startup.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2331720" y="2880360"/>
            <a:ext cx="1463040" cy="0"/>
          </a:xfrm>
          <a:prstGeom prst="line">
            <a:avLst/>
          </a:prstGeom>
          <a:noFill/>
          <a:ln w="15240">
            <a:solidFill>
              <a:srgbClr val="B7B0A6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800600" y="2880360"/>
            <a:ext cx="1463040" cy="0"/>
          </a:xfrm>
          <a:prstGeom prst="line">
            <a:avLst/>
          </a:prstGeom>
          <a:noFill/>
          <a:ln w="15240">
            <a:solidFill>
              <a:srgbClr val="B7B0A6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269480" y="2880360"/>
            <a:ext cx="1463040" cy="0"/>
          </a:xfrm>
          <a:prstGeom prst="line">
            <a:avLst/>
          </a:prstGeom>
          <a:noFill/>
          <a:ln w="15240">
            <a:solidFill>
              <a:srgbClr val="B7B0A6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85800" y="2331720"/>
            <a:ext cx="160020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D0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2468880"/>
            <a:ext cx="1380744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11253A"/>
                </a:solidFill>
              </a:rPr>
              <a:t>OPPORTUNITY</a:t>
            </a:r>
            <a:endParaRPr lang="en-US" sz="830" dirty="0"/>
          </a:p>
        </p:txBody>
      </p:sp>
      <p:sp>
        <p:nvSpPr>
          <p:cNvPr id="15" name="Text 13"/>
          <p:cNvSpPr/>
          <p:nvPr/>
        </p:nvSpPr>
        <p:spPr>
          <a:xfrm>
            <a:off x="795528" y="2724912"/>
            <a:ext cx="1380744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A4656"/>
                </a:solidFill>
              </a:rPr>
              <a:t>Idea / venture / project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3840480" y="2331720"/>
            <a:ext cx="1737360" cy="960120"/>
          </a:xfrm>
          <a:prstGeom prst="roundRect">
            <a:avLst>
              <a:gd name="adj" fmla="val 6667"/>
            </a:avLst>
          </a:prstGeom>
          <a:solidFill>
            <a:srgbClr val="E85B22"/>
          </a:solidFill>
          <a:ln w="12700">
            <a:solidFill>
              <a:srgbClr val="E85B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50208" y="2468880"/>
            <a:ext cx="1517904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FFFFF"/>
                </a:solidFill>
              </a:rPr>
              <a:t>CONFIGURATION</a:t>
            </a:r>
            <a:endParaRPr lang="en-US" sz="830" dirty="0"/>
          </a:p>
        </p:txBody>
      </p:sp>
      <p:sp>
        <p:nvSpPr>
          <p:cNvPr id="18" name="Text 16"/>
          <p:cNvSpPr/>
          <p:nvPr/>
        </p:nvSpPr>
        <p:spPr>
          <a:xfrm>
            <a:off x="3950208" y="2724912"/>
            <a:ext cx="1517904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FFFFFF"/>
                </a:solidFill>
              </a:rPr>
              <a:t>Founder + capability + investor + market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6309360" y="2331720"/>
            <a:ext cx="17373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D0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19088" y="2468880"/>
            <a:ext cx="1517904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11253A"/>
                </a:solidFill>
              </a:rPr>
              <a:t>RISK INTELLIGENCE</a:t>
            </a:r>
            <a:endParaRPr lang="en-US" sz="830" dirty="0"/>
          </a:p>
        </p:txBody>
      </p:sp>
      <p:sp>
        <p:nvSpPr>
          <p:cNvPr id="21" name="Text 19"/>
          <p:cNvSpPr/>
          <p:nvPr/>
        </p:nvSpPr>
        <p:spPr>
          <a:xfrm>
            <a:off x="6419088" y="2724912"/>
            <a:ext cx="1517904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A4656"/>
                </a:solidFill>
              </a:rPr>
              <a:t>Gaps, evidence, investor conditions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8778240" y="2331720"/>
            <a:ext cx="160020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D0C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87968" y="2468880"/>
            <a:ext cx="1380744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11253A"/>
                </a:solidFill>
              </a:rPr>
              <a:t>CONVERSION</a:t>
            </a:r>
            <a:endParaRPr lang="en-US" sz="830" dirty="0"/>
          </a:p>
        </p:txBody>
      </p:sp>
      <p:sp>
        <p:nvSpPr>
          <p:cNvPr id="24" name="Text 22"/>
          <p:cNvSpPr/>
          <p:nvPr/>
        </p:nvSpPr>
        <p:spPr>
          <a:xfrm>
            <a:off x="8887968" y="2724912"/>
            <a:ext cx="1380744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A4656"/>
                </a:solidFill>
              </a:rPr>
              <a:t>Action, owner, timing, capital path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685800" y="3977640"/>
            <a:ext cx="10332720" cy="960120"/>
          </a:xfrm>
          <a:prstGeom prst="roundRect">
            <a:avLst>
              <a:gd name="adj" fmla="val 7619"/>
            </a:avLst>
          </a:prstGeom>
          <a:solidFill>
            <a:srgbClr val="11253A"/>
          </a:solidFill>
          <a:ln w="12700">
            <a:solidFill>
              <a:srgbClr val="1125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11880" y="4178808"/>
            <a:ext cx="0" cy="557784"/>
          </a:xfrm>
          <a:prstGeom prst="line">
            <a:avLst/>
          </a:prstGeom>
          <a:noFill/>
          <a:ln w="12700">
            <a:solidFill>
              <a:srgbClr val="E85B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8408" y="42519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EFEC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FORGE answer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3931920" y="4279392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FECE4"/>
                </a:solidFill>
              </a:rPr>
              <a:t>Do not fund the whole risk. Fund what changes the risk.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04672" y="5257800"/>
            <a:ext cx="950976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1253A"/>
                </a:solidFill>
              </a:rPr>
              <a:t>This makes the configuration — not the conference table — the object to design, finance and measure.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B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0312"/>
            <a:ext cx="868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ECE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627632" y="2011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E85B22"/>
                </a:solidFill>
              </a:rPr>
              <a:t>PH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993392" y="228600"/>
            <a:ext cx="3474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AEB7C4"/>
                </a:solidFill>
              </a:rPr>
              <a:t>SOLUTION ARCHITECTURE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566928" y="502920"/>
            <a:ext cx="11064240" cy="0"/>
          </a:xfrm>
          <a:prstGeom prst="line">
            <a:avLst/>
          </a:prstGeom>
          <a:noFill/>
          <a:ln w="8890">
            <a:solidFill>
              <a:srgbClr val="2933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65392"/>
            <a:ext cx="4572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F8996"/>
                </a:solidFill>
              </a:rPr>
              <a:t>FORGE PH PITCH  •  SEPTEMBER 2026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11384280" y="6547104"/>
            <a:ext cx="25603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7F8996"/>
                </a:solidFill>
              </a:rPr>
              <a:t>04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676656" y="7772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000" dirty="0">
                <a:solidFill>
                  <a:srgbClr val="EFEC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90-day investment compound.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13232" y="1536192"/>
            <a:ext cx="8778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B7BEC7"/>
                </a:solidFill>
              </a:rPr>
              <a:t>The public event is the MVP. The post-event compound is the validation cycle.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246120" y="2971800"/>
            <a:ext cx="960120" cy="0"/>
          </a:xfrm>
          <a:prstGeom prst="line">
            <a:avLst/>
          </a:prstGeom>
          <a:noFill/>
          <a:ln w="15240">
            <a:solidFill>
              <a:srgbClr val="697482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903720" y="2971800"/>
            <a:ext cx="960120" cy="0"/>
          </a:xfrm>
          <a:prstGeom prst="line">
            <a:avLst/>
          </a:prstGeom>
          <a:noFill/>
          <a:ln w="15240">
            <a:solidFill>
              <a:srgbClr val="697482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77240" y="2331720"/>
            <a:ext cx="2286000" cy="960120"/>
          </a:xfrm>
          <a:prstGeom prst="roundRect">
            <a:avLst>
              <a:gd name="adj" fmla="val 6667"/>
            </a:avLst>
          </a:prstGeom>
          <a:solidFill>
            <a:srgbClr val="111A25"/>
          </a:solidFill>
          <a:ln w="12700">
            <a:solidFill>
              <a:srgbClr val="2933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2468880"/>
            <a:ext cx="2066544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EFECE4"/>
                </a:solidFill>
              </a:rPr>
              <a:t>FORGE PH</a:t>
            </a:r>
            <a:endParaRPr lang="en-US" sz="830" dirty="0"/>
          </a:p>
        </p:txBody>
      </p:sp>
      <p:sp>
        <p:nvSpPr>
          <p:cNvPr id="14" name="Text 12"/>
          <p:cNvSpPr/>
          <p:nvPr/>
        </p:nvSpPr>
        <p:spPr>
          <a:xfrm>
            <a:off x="886968" y="2724912"/>
            <a:ext cx="2066544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B7BEC7"/>
                </a:solidFill>
              </a:rPr>
              <a:t>Brand and platform for cross-border venture configuration.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4343400" y="2331720"/>
            <a:ext cx="2286000" cy="960120"/>
          </a:xfrm>
          <a:prstGeom prst="roundRect">
            <a:avLst>
              <a:gd name="adj" fmla="val 6667"/>
            </a:avLst>
          </a:prstGeom>
          <a:solidFill>
            <a:srgbClr val="E85B22"/>
          </a:solidFill>
          <a:ln w="12700">
            <a:solidFill>
              <a:srgbClr val="E85B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53128" y="2468880"/>
            <a:ext cx="2066544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FFFFF"/>
                </a:solidFill>
              </a:rPr>
              <a:t>FORGE DAY</a:t>
            </a:r>
            <a:endParaRPr lang="en-US" sz="830" dirty="0"/>
          </a:p>
        </p:txBody>
      </p:sp>
      <p:sp>
        <p:nvSpPr>
          <p:cNvPr id="17" name="Text 15"/>
          <p:cNvSpPr/>
          <p:nvPr/>
        </p:nvSpPr>
        <p:spPr>
          <a:xfrm>
            <a:off x="4453128" y="2724912"/>
            <a:ext cx="2066544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FFFFFF"/>
                </a:solidFill>
              </a:rPr>
              <a:t>The physical front-end: risk intelligence, showcases, tables and deal rooms.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8001000" y="2331720"/>
            <a:ext cx="2423160" cy="960120"/>
          </a:xfrm>
          <a:prstGeom prst="roundRect">
            <a:avLst>
              <a:gd name="adj" fmla="val 6667"/>
            </a:avLst>
          </a:prstGeom>
          <a:solidFill>
            <a:srgbClr val="111A25"/>
          </a:solidFill>
          <a:ln w="12700">
            <a:solidFill>
              <a:srgbClr val="2933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10728" y="2468880"/>
            <a:ext cx="2203704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EFECE4"/>
                </a:solidFill>
              </a:rPr>
              <a:t>FORGE NEXT</a:t>
            </a:r>
            <a:endParaRPr lang="en-US" sz="830" dirty="0"/>
          </a:p>
        </p:txBody>
      </p:sp>
      <p:sp>
        <p:nvSpPr>
          <p:cNvPr id="20" name="Text 18"/>
          <p:cNvSpPr/>
          <p:nvPr/>
        </p:nvSpPr>
        <p:spPr>
          <a:xfrm>
            <a:off x="8110728" y="2724912"/>
            <a:ext cx="2203704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B7BEC7"/>
                </a:solidFill>
              </a:rPr>
              <a:t>90-day post-event compound: measure, reconfigure or stop.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777240" y="4251960"/>
            <a:ext cx="9875520" cy="960120"/>
          </a:xfrm>
          <a:prstGeom prst="roundRect">
            <a:avLst>
              <a:gd name="adj" fmla="val 7619"/>
            </a:avLst>
          </a:prstGeom>
          <a:solidFill>
            <a:srgbClr val="11253A"/>
          </a:solidFill>
          <a:ln w="12700">
            <a:solidFill>
              <a:srgbClr val="1125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03320" y="4453128"/>
            <a:ext cx="0" cy="557784"/>
          </a:xfrm>
          <a:prstGeom prst="line">
            <a:avLst/>
          </a:prstGeom>
          <a:noFill/>
          <a:ln w="12700">
            <a:solidFill>
              <a:srgbClr val="E85B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69848" y="45262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EFEC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hypothesis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4023360" y="4553712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FECE4"/>
                </a:solidFill>
              </a:rPr>
              <a:t>A venture can become more investable when the right people, capabilities, evidence and capital sequence enter the configuration at the right time.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0312"/>
            <a:ext cx="868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25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627632" y="2011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E85B22"/>
                </a:solidFill>
              </a:rPr>
              <a:t>PH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993392" y="228600"/>
            <a:ext cx="3474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667080"/>
                </a:solidFill>
              </a:rPr>
              <a:t>OPERATING MODEL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566928" y="502920"/>
            <a:ext cx="11064240" cy="0"/>
          </a:xfrm>
          <a:prstGeom prst="line">
            <a:avLst/>
          </a:prstGeom>
          <a:noFill/>
          <a:ln w="8890">
            <a:solidFill>
              <a:srgbClr val="D4CE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65392"/>
            <a:ext cx="4572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E858C"/>
                </a:solidFill>
              </a:rPr>
              <a:t>FORGE PH PITCH  •  SEPTEMBER 2026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11384280" y="6547104"/>
            <a:ext cx="25603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7E858C"/>
                </a:solidFill>
              </a:rPr>
              <a:t>05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676656" y="7772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000" dirty="0">
                <a:solidFill>
                  <a:srgbClr val="1125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FORGE works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13232" y="1536192"/>
            <a:ext cx="8778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3A4656"/>
                </a:solidFill>
              </a:rPr>
              <a:t>Recruit potential. Configure capability. Improve readiness. Test what deserves to continue.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2057400" y="2852928"/>
            <a:ext cx="201168" cy="0"/>
          </a:xfrm>
          <a:prstGeom prst="line">
            <a:avLst/>
          </a:prstGeom>
          <a:noFill/>
          <a:ln w="15240">
            <a:solidFill>
              <a:srgbClr val="B7B0A6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794760" y="2852928"/>
            <a:ext cx="201168" cy="0"/>
          </a:xfrm>
          <a:prstGeom prst="line">
            <a:avLst/>
          </a:prstGeom>
          <a:noFill/>
          <a:ln w="15240">
            <a:solidFill>
              <a:srgbClr val="B7B0A6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532120" y="2852928"/>
            <a:ext cx="201168" cy="0"/>
          </a:xfrm>
          <a:prstGeom prst="line">
            <a:avLst/>
          </a:prstGeom>
          <a:noFill/>
          <a:ln w="15240">
            <a:solidFill>
              <a:srgbClr val="B7B0A6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269480" y="2852928"/>
            <a:ext cx="201168" cy="0"/>
          </a:xfrm>
          <a:prstGeom prst="line">
            <a:avLst/>
          </a:prstGeom>
          <a:noFill/>
          <a:ln w="15240">
            <a:solidFill>
              <a:srgbClr val="B7B0A6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006840" y="2852928"/>
            <a:ext cx="201168" cy="0"/>
          </a:xfrm>
          <a:prstGeom prst="line">
            <a:avLst/>
          </a:prstGeom>
          <a:noFill/>
          <a:ln w="15240">
            <a:solidFill>
              <a:srgbClr val="B7B0A6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94360" y="2331720"/>
            <a:ext cx="15087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D0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" y="2468880"/>
            <a:ext cx="1289304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11253A"/>
                </a:solidFill>
              </a:rPr>
              <a:t>RECRUIT</a:t>
            </a:r>
            <a:endParaRPr lang="en-US" sz="830" dirty="0"/>
          </a:p>
        </p:txBody>
      </p:sp>
      <p:sp>
        <p:nvSpPr>
          <p:cNvPr id="17" name="Text 15"/>
          <p:cNvSpPr/>
          <p:nvPr/>
        </p:nvSpPr>
        <p:spPr>
          <a:xfrm>
            <a:off x="704088" y="2724912"/>
            <a:ext cx="1289304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A4656"/>
                </a:solidFill>
              </a:rPr>
              <a:t>Founders, startups, university teams and credible pre-company ideas.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2331720" y="2331720"/>
            <a:ext cx="15087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D0C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41448" y="2468880"/>
            <a:ext cx="1289304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11253A"/>
                </a:solidFill>
              </a:rPr>
              <a:t>PROFILE</a:t>
            </a:r>
            <a:endParaRPr lang="en-US" sz="830" dirty="0"/>
          </a:p>
        </p:txBody>
      </p:sp>
      <p:sp>
        <p:nvSpPr>
          <p:cNvPr id="20" name="Text 18"/>
          <p:cNvSpPr/>
          <p:nvPr/>
        </p:nvSpPr>
        <p:spPr>
          <a:xfrm>
            <a:off x="2441448" y="2724912"/>
            <a:ext cx="1289304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A4656"/>
                </a:solidFill>
              </a:rPr>
              <a:t>Problem, evidence, team, need, capability, capital.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4069080" y="2331720"/>
            <a:ext cx="15087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D0C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78808" y="2468880"/>
            <a:ext cx="1289304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11253A"/>
                </a:solidFill>
              </a:rPr>
              <a:t>QUALIFY</a:t>
            </a:r>
            <a:endParaRPr lang="en-US" sz="830" dirty="0"/>
          </a:p>
        </p:txBody>
      </p:sp>
      <p:sp>
        <p:nvSpPr>
          <p:cNvPr id="23" name="Text 21"/>
          <p:cNvSpPr/>
          <p:nvPr/>
        </p:nvSpPr>
        <p:spPr>
          <a:xfrm>
            <a:off x="4178808" y="2724912"/>
            <a:ext cx="1289304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A4656"/>
                </a:solidFill>
              </a:rPr>
              <a:t>Substance, clarity and actionability — not endorsement.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5806440" y="2331720"/>
            <a:ext cx="1508760" cy="960120"/>
          </a:xfrm>
          <a:prstGeom prst="roundRect">
            <a:avLst>
              <a:gd name="adj" fmla="val 6667"/>
            </a:avLst>
          </a:prstGeom>
          <a:solidFill>
            <a:srgbClr val="E85B22"/>
          </a:solidFill>
          <a:ln w="12700">
            <a:solidFill>
              <a:srgbClr val="E85B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16168" y="2468880"/>
            <a:ext cx="1289304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FFFFF"/>
                </a:solidFill>
              </a:rPr>
              <a:t>CONFIGURE</a:t>
            </a:r>
            <a:endParaRPr lang="en-US" sz="830" dirty="0"/>
          </a:p>
        </p:txBody>
      </p:sp>
      <p:sp>
        <p:nvSpPr>
          <p:cNvPr id="26" name="Text 24"/>
          <p:cNvSpPr/>
          <p:nvPr/>
        </p:nvSpPr>
        <p:spPr>
          <a:xfrm>
            <a:off x="5916168" y="2724912"/>
            <a:ext cx="1289304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FFFFFF"/>
                </a:solidFill>
              </a:rPr>
              <a:t>Temporary cells around actual needs and missing capabilities.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7543800" y="2331720"/>
            <a:ext cx="15087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D0C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53528" y="2468880"/>
            <a:ext cx="1289304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11253A"/>
                </a:solidFill>
              </a:rPr>
              <a:t>DE-RISK</a:t>
            </a:r>
            <a:endParaRPr lang="en-US" sz="830" dirty="0"/>
          </a:p>
        </p:txBody>
      </p:sp>
      <p:sp>
        <p:nvSpPr>
          <p:cNvPr id="29" name="Text 27"/>
          <p:cNvSpPr/>
          <p:nvPr/>
        </p:nvSpPr>
        <p:spPr>
          <a:xfrm>
            <a:off x="7653528" y="2724912"/>
            <a:ext cx="1289304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A4656"/>
                </a:solidFill>
              </a:rPr>
              <a:t>Make gaps and investor conditions legible.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9281160" y="2331720"/>
            <a:ext cx="15087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D0C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90888" y="2468880"/>
            <a:ext cx="1289304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11253A"/>
                </a:solidFill>
              </a:rPr>
              <a:t>CONVERT</a:t>
            </a:r>
            <a:endParaRPr lang="en-US" sz="830" dirty="0"/>
          </a:p>
        </p:txBody>
      </p:sp>
      <p:sp>
        <p:nvSpPr>
          <p:cNvPr id="32" name="Text 30"/>
          <p:cNvSpPr/>
          <p:nvPr/>
        </p:nvSpPr>
        <p:spPr>
          <a:xfrm>
            <a:off x="9390888" y="2724912"/>
            <a:ext cx="1289304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A4656"/>
                </a:solidFill>
              </a:rPr>
              <a:t>Diligence, pilot, partnership, capital sequence or stop.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640080" y="4160520"/>
            <a:ext cx="10652760" cy="960120"/>
          </a:xfrm>
          <a:prstGeom prst="roundRect">
            <a:avLst>
              <a:gd name="adj" fmla="val 7619"/>
            </a:avLst>
          </a:prstGeom>
          <a:solidFill>
            <a:srgbClr val="11253A"/>
          </a:solidFill>
          <a:ln w="12700">
            <a:solidFill>
              <a:srgbClr val="11253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566160" y="4361688"/>
            <a:ext cx="0" cy="557784"/>
          </a:xfrm>
          <a:prstGeom prst="line">
            <a:avLst/>
          </a:prstGeom>
          <a:noFill/>
          <a:ln w="12700">
            <a:solidFill>
              <a:srgbClr val="E85B2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2688" y="44348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EFEC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Working Cell rule</a:t>
            </a:r>
            <a:endParaRPr lang="en-US" sz="1900" dirty="0"/>
          </a:p>
        </p:txBody>
      </p:sp>
      <p:sp>
        <p:nvSpPr>
          <p:cNvPr id="36" name="Text 34"/>
          <p:cNvSpPr/>
          <p:nvPr/>
        </p:nvSpPr>
        <p:spPr>
          <a:xfrm>
            <a:off x="3886200" y="4462272"/>
            <a:ext cx="7086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FECE4"/>
                </a:solidFill>
              </a:rPr>
              <a:t>Need + complementary capability + willingness + possible action. Anything less is only conversation.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B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0312"/>
            <a:ext cx="868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ECE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627632" y="2011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E85B22"/>
                </a:solidFill>
              </a:rPr>
              <a:t>PH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993392" y="228600"/>
            <a:ext cx="3474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AEB7C4"/>
                </a:solidFill>
              </a:rPr>
              <a:t>CORRIDOR ADVANTAGE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566928" y="502920"/>
            <a:ext cx="11064240" cy="0"/>
          </a:xfrm>
          <a:prstGeom prst="line">
            <a:avLst/>
          </a:prstGeom>
          <a:noFill/>
          <a:ln w="8890">
            <a:solidFill>
              <a:srgbClr val="2933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65392"/>
            <a:ext cx="4572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F8996"/>
                </a:solidFill>
              </a:rPr>
              <a:t>FORGE PH PITCH  •  SEPTEMBER 2026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11384280" y="6547104"/>
            <a:ext cx="25603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7F8996"/>
                </a:solidFill>
              </a:rPr>
              <a:t>06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676656" y="7772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000" dirty="0">
                <a:solidFill>
                  <a:srgbClr val="EFEC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corridor is not a backdrop.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13232" y="1536192"/>
            <a:ext cx="8778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B7BEC7"/>
                </a:solidFill>
              </a:rPr>
              <a:t>It is part of the product.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2926080" y="2971800"/>
            <a:ext cx="1874520" cy="0"/>
          </a:xfrm>
          <a:prstGeom prst="line">
            <a:avLst/>
          </a:prstGeom>
          <a:noFill/>
          <a:ln w="15240">
            <a:solidFill>
              <a:srgbClr val="697482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040880" y="2971800"/>
            <a:ext cx="1874520" cy="0"/>
          </a:xfrm>
          <a:prstGeom prst="line">
            <a:avLst/>
          </a:prstGeom>
          <a:noFill/>
          <a:ln w="15240">
            <a:solidFill>
              <a:srgbClr val="697482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77240" y="2267712"/>
            <a:ext cx="2084832" cy="960120"/>
          </a:xfrm>
          <a:prstGeom prst="roundRect">
            <a:avLst>
              <a:gd name="adj" fmla="val 6667"/>
            </a:avLst>
          </a:prstGeom>
          <a:solidFill>
            <a:srgbClr val="111A25"/>
          </a:solidFill>
          <a:ln w="12700">
            <a:solidFill>
              <a:srgbClr val="2933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2404872"/>
            <a:ext cx="1865376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EFECE4"/>
                </a:solidFill>
              </a:rPr>
              <a:t>ITALY / EUROPE</a:t>
            </a:r>
            <a:endParaRPr lang="en-US" sz="830" dirty="0"/>
          </a:p>
        </p:txBody>
      </p:sp>
      <p:sp>
        <p:nvSpPr>
          <p:cNvPr id="14" name="Text 12"/>
          <p:cNvSpPr/>
          <p:nvPr/>
        </p:nvSpPr>
        <p:spPr>
          <a:xfrm>
            <a:off x="886968" y="2660904"/>
            <a:ext cx="1865376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B7BEC7"/>
                </a:solidFill>
              </a:rPr>
              <a:t>Technology • design • manufacturing know-how • professional capabilities • capital access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4864608" y="2267712"/>
            <a:ext cx="2084832" cy="960120"/>
          </a:xfrm>
          <a:prstGeom prst="roundRect">
            <a:avLst>
              <a:gd name="adj" fmla="val 6667"/>
            </a:avLst>
          </a:prstGeom>
          <a:solidFill>
            <a:srgbClr val="E85B22"/>
          </a:solidFill>
          <a:ln w="12700">
            <a:solidFill>
              <a:srgbClr val="E85B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74336" y="2404872"/>
            <a:ext cx="1865376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FFFFF"/>
                </a:solidFill>
              </a:rPr>
              <a:t>PHILIPPINES</a:t>
            </a:r>
            <a:endParaRPr lang="en-US" sz="830" dirty="0"/>
          </a:p>
        </p:txBody>
      </p:sp>
      <p:sp>
        <p:nvSpPr>
          <p:cNvPr id="17" name="Text 15"/>
          <p:cNvSpPr/>
          <p:nvPr/>
        </p:nvSpPr>
        <p:spPr>
          <a:xfrm>
            <a:off x="4974336" y="2660904"/>
            <a:ext cx="1865376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FFFFFF"/>
                </a:solidFill>
              </a:rPr>
              <a:t>Founders • talent • execution • domestic market • English-language scalability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8979408" y="2267712"/>
            <a:ext cx="2084832" cy="960120"/>
          </a:xfrm>
          <a:prstGeom prst="roundRect">
            <a:avLst>
              <a:gd name="adj" fmla="val 6667"/>
            </a:avLst>
          </a:prstGeom>
          <a:solidFill>
            <a:srgbClr val="111A25"/>
          </a:solidFill>
          <a:ln w="12700">
            <a:solidFill>
              <a:srgbClr val="2933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89136" y="2404872"/>
            <a:ext cx="1865376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EFECE4"/>
                </a:solidFill>
              </a:rPr>
              <a:t>ASEAN</a:t>
            </a:r>
            <a:endParaRPr lang="en-US" sz="830" dirty="0"/>
          </a:p>
        </p:txBody>
      </p:sp>
      <p:sp>
        <p:nvSpPr>
          <p:cNvPr id="20" name="Text 18"/>
          <p:cNvSpPr/>
          <p:nvPr/>
        </p:nvSpPr>
        <p:spPr>
          <a:xfrm>
            <a:off x="9089136" y="2660904"/>
            <a:ext cx="1865376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B7BEC7"/>
                </a:solidFill>
              </a:rPr>
              <a:t>Regional expansion • market pathways • pilots • corporate demand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777240" y="4160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EFEC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FORGE imports capability, not merely services.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04672" y="4736592"/>
            <a:ext cx="89611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B7BEC7"/>
                </a:solidFill>
              </a:rPr>
              <a:t>The objective is not outsourcing. It is to build temporary cross-border configurations that leave stronger local execution capacity behind.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0312"/>
            <a:ext cx="868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25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627632" y="2011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E85B22"/>
                </a:solidFill>
              </a:rPr>
              <a:t>PH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993392" y="228600"/>
            <a:ext cx="3474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667080"/>
                </a:solidFill>
              </a:rPr>
              <a:t>BUSINESS MODEL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566928" y="502920"/>
            <a:ext cx="11064240" cy="0"/>
          </a:xfrm>
          <a:prstGeom prst="line">
            <a:avLst/>
          </a:prstGeom>
          <a:noFill/>
          <a:ln w="8890">
            <a:solidFill>
              <a:srgbClr val="D4CE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65392"/>
            <a:ext cx="4572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E858C"/>
                </a:solidFill>
              </a:rPr>
              <a:t>FORGE PH PITCH  •  SEPTEMBER 2026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11384280" y="6547104"/>
            <a:ext cx="25603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7E858C"/>
                </a:solidFill>
              </a:rPr>
              <a:t>07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676656" y="7772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000" dirty="0">
                <a:solidFill>
                  <a:srgbClr val="1125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FORGE can monetize before it becomes a fund.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13232" y="1536192"/>
            <a:ext cx="8778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3A4656"/>
                </a:solidFill>
              </a:rPr>
              <a:t>The venture path can evolve in layers, without pretending the first cycle is already a regulated investment product.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5800" y="2011680"/>
            <a:ext cx="21945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D3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2176272"/>
            <a:ext cx="1865376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1253A"/>
                </a:solidFill>
              </a:rPr>
              <a:t>LAYER 1: EVENT REVENUE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50392" y="2542032"/>
            <a:ext cx="1865376" cy="4480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E3A49"/>
                </a:solidFill>
              </a:rPr>
              <a:t>Sponsorship, memberships, curated participation, visibility and institutional partnerships.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063240" y="2011680"/>
            <a:ext cx="21945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D3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27832" y="2176272"/>
            <a:ext cx="1865376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1253A"/>
                </a:solidFill>
              </a:rPr>
              <a:t>LAYER 2: CONFIGURATION SERVICES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227832" y="2542032"/>
            <a:ext cx="1865376" cy="4480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E3A49"/>
                </a:solidFill>
              </a:rPr>
              <a:t>Paid readiness work, capability mapping, partner search and structured follow-up.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40680" y="2011680"/>
            <a:ext cx="21945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D3C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05272" y="2176272"/>
            <a:ext cx="1865376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1253A"/>
                </a:solidFill>
              </a:rPr>
              <a:t>LAYER 3: SUCCESS ECONOMICS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605272" y="2542032"/>
            <a:ext cx="1865376" cy="4480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E3A49"/>
                </a:solidFill>
              </a:rPr>
              <a:t>Success fee, advisory fee, warrants or upside-linked participation where allowed.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818120" y="2011680"/>
            <a:ext cx="2194560" cy="1143000"/>
          </a:xfrm>
          <a:prstGeom prst="roundRect">
            <a:avLst>
              <a:gd name="adj" fmla="val 6400"/>
            </a:avLst>
          </a:prstGeom>
          <a:solidFill>
            <a:srgbClr val="FFF0E9"/>
          </a:solidFill>
          <a:ln w="12700">
            <a:solidFill>
              <a:srgbClr val="E85B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82712" y="2176272"/>
            <a:ext cx="1865376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E85B22"/>
                </a:solidFill>
              </a:rPr>
              <a:t>LAYER 4: CAPITAL VEHICLE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982712" y="2542032"/>
            <a:ext cx="1865376" cy="4480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E3A49"/>
                </a:solidFill>
              </a:rPr>
              <a:t>Future pilot pool or SPVs to fund risk-changing actions, subject to governance and regulation.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85800" y="3977640"/>
            <a:ext cx="10012680" cy="987552"/>
          </a:xfrm>
          <a:prstGeom prst="roundRect">
            <a:avLst>
              <a:gd name="adj" fmla="val 7407"/>
            </a:avLst>
          </a:prstGeom>
          <a:solidFill>
            <a:srgbClr val="11253A"/>
          </a:solidFill>
          <a:ln w="12700">
            <a:solidFill>
              <a:srgbClr val="1125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11880" y="4178808"/>
            <a:ext cx="0" cy="585216"/>
          </a:xfrm>
          <a:prstGeom prst="line">
            <a:avLst/>
          </a:prstGeom>
          <a:noFill/>
          <a:ln w="12700">
            <a:solidFill>
              <a:srgbClr val="E85B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8408" y="425196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EFEC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Capital logic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3931920" y="4279392"/>
            <a:ext cx="6446520" cy="4846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FECE4"/>
                </a:solidFill>
              </a:rPr>
              <a:t>Investors would not only fund a startup pipeline. They would fund FORGE’s capacity to make selected opportunities more investable.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B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0312"/>
            <a:ext cx="868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ECE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627632" y="2011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E85B22"/>
                </a:solidFill>
              </a:rPr>
              <a:t>PH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993392" y="228600"/>
            <a:ext cx="3474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AEB7C4"/>
                </a:solidFill>
              </a:rPr>
              <a:t>MOAT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566928" y="502920"/>
            <a:ext cx="11064240" cy="0"/>
          </a:xfrm>
          <a:prstGeom prst="line">
            <a:avLst/>
          </a:prstGeom>
          <a:noFill/>
          <a:ln w="8890">
            <a:solidFill>
              <a:srgbClr val="2933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65392"/>
            <a:ext cx="4572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F8996"/>
                </a:solidFill>
              </a:rPr>
              <a:t>FORGE PH PITCH  •  SEPTEMBER 2026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11384280" y="6547104"/>
            <a:ext cx="25603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7F8996"/>
                </a:solidFill>
              </a:rPr>
              <a:t>08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676656" y="7772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000" dirty="0">
                <a:solidFill>
                  <a:srgbClr val="EFEC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real moat is not a list of startups.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13232" y="1536192"/>
            <a:ext cx="8778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B7BEC7"/>
                </a:solidFill>
              </a:rPr>
              <a:t>It is a dataset on how investability changes.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77240" y="1965960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101925"/>
          </a:solidFill>
          <a:ln w="12700">
            <a:solidFill>
              <a:srgbClr val="E85B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" y="2130552"/>
            <a:ext cx="1865376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E85B22"/>
                </a:solidFill>
              </a:rPr>
              <a:t>CONFIGURATION SCORE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941832" y="2496312"/>
            <a:ext cx="186537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7BEC7"/>
                </a:solidFill>
              </a:rPr>
              <a:t>Is the temporary society complete enough to act?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46120" y="1965960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101925"/>
          </a:solidFill>
          <a:ln w="12700">
            <a:solidFill>
              <a:srgbClr val="E85B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10712" y="2130552"/>
            <a:ext cx="1865376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E85B22"/>
                </a:solidFill>
              </a:rPr>
              <a:t>DE-RISK SCORE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410712" y="2496312"/>
            <a:ext cx="186537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7BEC7"/>
                </a:solidFill>
              </a:rPr>
              <a:t>Which risks were reduced by capability, evidence or governance?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715000" y="1965960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101925"/>
          </a:solidFill>
          <a:ln w="12700">
            <a:solidFill>
              <a:srgbClr val="E85B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79592" y="2130552"/>
            <a:ext cx="1865376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E85B22"/>
                </a:solidFill>
              </a:rPr>
              <a:t>READINESS SCORE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879592" y="2496312"/>
            <a:ext cx="186537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7BEC7"/>
                </a:solidFill>
              </a:rPr>
              <a:t>Is the venture ready for the next capital step?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183880" y="1965960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101925"/>
          </a:solidFill>
          <a:ln w="12700">
            <a:solidFill>
              <a:srgbClr val="E85B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48472" y="2130552"/>
            <a:ext cx="1865376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E85B22"/>
                </a:solidFill>
              </a:rPr>
              <a:t>COMPOUND EFFECT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348472" y="2496312"/>
            <a:ext cx="186537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7BEC7"/>
                </a:solidFill>
              </a:rPr>
              <a:t>Did the configuration create value greater than its parts?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77240" y="3794760"/>
            <a:ext cx="9875520" cy="1078992"/>
          </a:xfrm>
          <a:prstGeom prst="roundRect">
            <a:avLst>
              <a:gd name="adj" fmla="val 6780"/>
            </a:avLst>
          </a:prstGeom>
          <a:solidFill>
            <a:srgbClr val="11253A"/>
          </a:solidFill>
          <a:ln w="12700">
            <a:solidFill>
              <a:srgbClr val="1125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03320" y="3995928"/>
            <a:ext cx="0" cy="676656"/>
          </a:xfrm>
          <a:prstGeom prst="line">
            <a:avLst/>
          </a:prstGeom>
          <a:noFill/>
          <a:ln w="12700">
            <a:solidFill>
              <a:srgbClr val="E85B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69848" y="4069080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EFEC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Configuration intelligence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4023360" y="4096512"/>
            <a:ext cx="6309360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FECE4"/>
                </a:solidFill>
              </a:rPr>
              <a:t>After multiple cycles, FORGE can learn which combinations of capability, evidence, market access and capital most often change investor conditions.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0312"/>
            <a:ext cx="868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25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627632" y="2011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E85B22"/>
                </a:solidFill>
              </a:rPr>
              <a:t>PH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993392" y="228600"/>
            <a:ext cx="3474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667080"/>
                </a:solidFill>
              </a:rPr>
              <a:t>MVP PLAN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566928" y="502920"/>
            <a:ext cx="11064240" cy="0"/>
          </a:xfrm>
          <a:prstGeom prst="line">
            <a:avLst/>
          </a:prstGeom>
          <a:noFill/>
          <a:ln w="8890">
            <a:solidFill>
              <a:srgbClr val="D4CE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65392"/>
            <a:ext cx="4572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E858C"/>
                </a:solidFill>
              </a:rPr>
              <a:t>FORGE PH PITCH  •  SEPTEMBER 2026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11384280" y="6547104"/>
            <a:ext cx="25603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7E858C"/>
                </a:solidFill>
              </a:rPr>
              <a:t>09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676656" y="7772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000" dirty="0">
                <a:solidFill>
                  <a:srgbClr val="1125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MVP is measurable.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13232" y="1536192"/>
            <a:ext cx="8778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3A4656"/>
                </a:solidFill>
              </a:rPr>
              <a:t>FORGE Day creates the first configurations. The 90 days test whether they change anything.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783080" y="2880360"/>
            <a:ext cx="576072" cy="0"/>
          </a:xfrm>
          <a:prstGeom prst="line">
            <a:avLst/>
          </a:prstGeom>
          <a:noFill/>
          <a:ln w="15240">
            <a:solidFill>
              <a:srgbClr val="B7B0A6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389120" y="2880360"/>
            <a:ext cx="576072" cy="0"/>
          </a:xfrm>
          <a:prstGeom prst="line">
            <a:avLst/>
          </a:prstGeom>
          <a:noFill/>
          <a:ln w="15240">
            <a:solidFill>
              <a:srgbClr val="B7B0A6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995160" y="2880360"/>
            <a:ext cx="576072" cy="0"/>
          </a:xfrm>
          <a:prstGeom prst="line">
            <a:avLst/>
          </a:prstGeom>
          <a:noFill/>
          <a:ln w="15240">
            <a:solidFill>
              <a:srgbClr val="B7B0A6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85800" y="2286000"/>
            <a:ext cx="1920240" cy="960120"/>
          </a:xfrm>
          <a:prstGeom prst="roundRect">
            <a:avLst>
              <a:gd name="adj" fmla="val 6667"/>
            </a:avLst>
          </a:prstGeom>
          <a:solidFill>
            <a:srgbClr val="E85B22"/>
          </a:solidFill>
          <a:ln w="12700">
            <a:solidFill>
              <a:srgbClr val="E85B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2423160"/>
            <a:ext cx="1700784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FFFFFF"/>
                </a:solidFill>
              </a:rPr>
              <a:t>D+0 — FORGE PAPER T1</a:t>
            </a:r>
            <a:endParaRPr lang="en-US" sz="830" dirty="0"/>
          </a:p>
        </p:txBody>
      </p:sp>
      <p:sp>
        <p:nvSpPr>
          <p:cNvPr id="15" name="Text 13"/>
          <p:cNvSpPr/>
          <p:nvPr/>
        </p:nvSpPr>
        <p:spPr>
          <a:xfrm>
            <a:off x="795528" y="2679192"/>
            <a:ext cx="1700784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FFFFFF"/>
                </a:solidFill>
              </a:rPr>
              <a:t>configuration, evidence, conditions, next action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3291840" y="2286000"/>
            <a:ext cx="19202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D0C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01568" y="2423160"/>
            <a:ext cx="1700784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11253A"/>
                </a:solidFill>
              </a:rPr>
              <a:t>D+10 — ACTIVATION</a:t>
            </a:r>
            <a:endParaRPr lang="en-US" sz="830" dirty="0"/>
          </a:p>
        </p:txBody>
      </p:sp>
      <p:sp>
        <p:nvSpPr>
          <p:cNvPr id="18" name="Text 16"/>
          <p:cNvSpPr/>
          <p:nvPr/>
        </p:nvSpPr>
        <p:spPr>
          <a:xfrm>
            <a:off x="3401568" y="2679192"/>
            <a:ext cx="1700784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A4656"/>
                </a:solidFill>
              </a:rPr>
              <a:t>did the pilot, diligence or financing step begin?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5897880" y="2286000"/>
            <a:ext cx="19202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D0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07608" y="2423160"/>
            <a:ext cx="1700784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11253A"/>
                </a:solidFill>
              </a:rPr>
              <a:t>D+45 — EVIDENCE</a:t>
            </a:r>
            <a:endParaRPr lang="en-US" sz="830" dirty="0"/>
          </a:p>
        </p:txBody>
      </p:sp>
      <p:sp>
        <p:nvSpPr>
          <p:cNvPr id="21" name="Text 19"/>
          <p:cNvSpPr/>
          <p:nvPr/>
        </p:nvSpPr>
        <p:spPr>
          <a:xfrm>
            <a:off x="6007608" y="2679192"/>
            <a:ext cx="1700784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A4656"/>
                </a:solidFill>
              </a:rPr>
              <a:t>what proof, capability or access changed?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8503920" y="2286000"/>
            <a:ext cx="19202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D0C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13648" y="2423160"/>
            <a:ext cx="1700784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11253A"/>
                </a:solidFill>
              </a:rPr>
              <a:t>D+90 — REASSESSMENT</a:t>
            </a:r>
            <a:endParaRPr lang="en-US" sz="830" dirty="0"/>
          </a:p>
        </p:txBody>
      </p:sp>
      <p:sp>
        <p:nvSpPr>
          <p:cNvPr id="24" name="Text 22"/>
          <p:cNvSpPr/>
          <p:nvPr/>
        </p:nvSpPr>
        <p:spPr>
          <a:xfrm>
            <a:off x="8613648" y="2679192"/>
            <a:ext cx="1700784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A4656"/>
                </a:solidFill>
              </a:rPr>
              <a:t>continue, reconfigure, seek capital or stop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685800" y="4160520"/>
            <a:ext cx="10149840" cy="960120"/>
          </a:xfrm>
          <a:prstGeom prst="roundRect">
            <a:avLst>
              <a:gd name="adj" fmla="val 7619"/>
            </a:avLst>
          </a:prstGeom>
          <a:solidFill>
            <a:srgbClr val="11253A"/>
          </a:solidFill>
          <a:ln w="12700">
            <a:solidFill>
              <a:srgbClr val="1125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11880" y="4361688"/>
            <a:ext cx="0" cy="557784"/>
          </a:xfrm>
          <a:prstGeom prst="line">
            <a:avLst/>
          </a:prstGeom>
          <a:noFill/>
          <a:ln w="12700">
            <a:solidFill>
              <a:srgbClr val="E85B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8408" y="44348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EFEC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Validation question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3931920" y="4462272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FECE4"/>
                </a:solidFill>
              </a:rPr>
              <a:t>Can a deliberately designed and financed configuration change the investability of a startup?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B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0312"/>
            <a:ext cx="868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ECE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627632" y="201168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E85B22"/>
                </a:solidFill>
              </a:rPr>
              <a:t>PH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993392" y="228600"/>
            <a:ext cx="3474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AEB7C4"/>
                </a:solidFill>
              </a:rPr>
              <a:t>ASK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566928" y="502920"/>
            <a:ext cx="11064240" cy="0"/>
          </a:xfrm>
          <a:prstGeom prst="line">
            <a:avLst/>
          </a:prstGeom>
          <a:noFill/>
          <a:ln w="8890">
            <a:solidFill>
              <a:srgbClr val="2933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65392"/>
            <a:ext cx="4572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F8996"/>
                </a:solidFill>
              </a:rPr>
              <a:t>FORGE PH PITCH  •  SEPTEMBER 2026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11384280" y="6547104"/>
            <a:ext cx="25603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7F8996"/>
                </a:solidFill>
              </a:rPr>
              <a:t>10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676656" y="7772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000" dirty="0">
                <a:solidFill>
                  <a:srgbClr val="EFEC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FORGE needs now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13232" y="1536192"/>
            <a:ext cx="8778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B7BEC7"/>
                </a:solidFill>
              </a:rPr>
              <a:t>Not just speakers. Participants must enter with a role, capability or capital condition.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2039112"/>
            <a:ext cx="118872" cy="118872"/>
          </a:xfrm>
          <a:prstGeom prst="ellipse">
            <a:avLst/>
          </a:prstGeom>
          <a:solidFill>
            <a:srgbClr val="E85B22"/>
          </a:solidFill>
          <a:ln w="12700">
            <a:solidFill>
              <a:srgbClr val="E85B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33272" y="199339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FECE4"/>
                </a:solidFill>
              </a:rPr>
              <a:t>10–15 qualified startups/projects with clear needs and evidence.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2450592"/>
            <a:ext cx="118872" cy="118872"/>
          </a:xfrm>
          <a:prstGeom prst="ellipse">
            <a:avLst/>
          </a:prstGeom>
          <a:solidFill>
            <a:srgbClr val="E85B22"/>
          </a:solidFill>
          <a:ln w="12700">
            <a:solidFill>
              <a:srgbClr val="E85B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240487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FECE4"/>
                </a:solidFill>
              </a:rPr>
              <a:t>Investors willing to disclose decision criteria and risk filters.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2862072"/>
            <a:ext cx="118872" cy="118872"/>
          </a:xfrm>
          <a:prstGeom prst="ellipse">
            <a:avLst/>
          </a:prstGeom>
          <a:solidFill>
            <a:srgbClr val="E85B22"/>
          </a:solidFill>
          <a:ln w="12700">
            <a:solidFill>
              <a:srgbClr val="E85B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33272" y="281635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FECE4"/>
                </a:solidFill>
              </a:rPr>
              <a:t>Corporate/capability partners able to enter temporary configurations.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" y="3273552"/>
            <a:ext cx="118872" cy="118872"/>
          </a:xfrm>
          <a:prstGeom prst="ellipse">
            <a:avLst/>
          </a:prstGeom>
          <a:solidFill>
            <a:srgbClr val="E85B22"/>
          </a:solidFill>
          <a:ln w="12700">
            <a:solidFill>
              <a:srgbClr val="E85B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3272" y="322783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FECE4"/>
                </a:solidFill>
              </a:rPr>
              <a:t>A risk intelligence partner for readiness and de-risking logic.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22960" y="3685032"/>
            <a:ext cx="118872" cy="118872"/>
          </a:xfrm>
          <a:prstGeom prst="ellipse">
            <a:avLst/>
          </a:prstGeom>
          <a:solidFill>
            <a:srgbClr val="E85B22"/>
          </a:solidFill>
          <a:ln w="12700">
            <a:solidFill>
              <a:srgbClr val="E85B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3272" y="363931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FECE4"/>
                </a:solidFill>
              </a:rPr>
              <a:t>A small pilot pool or sponsored capability budget after the event.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22960" y="4617720"/>
            <a:ext cx="9692640" cy="841248"/>
          </a:xfrm>
          <a:prstGeom prst="roundRect">
            <a:avLst>
              <a:gd name="adj" fmla="val 8696"/>
            </a:avLst>
          </a:prstGeom>
          <a:solidFill>
            <a:srgbClr val="11253A"/>
          </a:solidFill>
          <a:ln w="12700">
            <a:solidFill>
              <a:srgbClr val="1125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49040" y="4818888"/>
            <a:ext cx="0" cy="438912"/>
          </a:xfrm>
          <a:prstGeom prst="line">
            <a:avLst/>
          </a:prstGeom>
          <a:noFill/>
          <a:ln w="12700">
            <a:solidFill>
              <a:srgbClr val="E85B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5568" y="48920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EFEC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ask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4069080" y="4919472"/>
            <a:ext cx="6126480" cy="3383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FECE4"/>
                </a:solidFill>
              </a:rPr>
              <a:t>Support the first FORGE cycle as a launch partner, capital partner, capability partner or pipeline partner.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B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forge_trails_clean_da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0"/>
            <a:ext cx="482803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14032" y="502920"/>
            <a:ext cx="0" cy="5852160"/>
          </a:xfrm>
          <a:prstGeom prst="line">
            <a:avLst/>
          </a:prstGeom>
          <a:noFill/>
          <a:ln w="13970">
            <a:solidFill>
              <a:srgbClr val="E85B22">
                <a:alpha val="85000"/>
              </a:srgbClr>
            </a:solidFill>
            <a:prstDash val="solid"/>
          </a:ln>
        </p:spPr>
      </p:sp>
      <p:pic>
        <p:nvPicPr>
          <p:cNvPr id="4" name="Image 1" descr="/mnt/data/DA06D35F-F19B-4F89-8BD1-0EC00DCEBFF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411480"/>
            <a:ext cx="914400" cy="9144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94944" y="1783080"/>
            <a:ext cx="502920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EFECE4"/>
                </a:solidFill>
              </a:rPr>
              <a:t>FORGE PH</a:t>
            </a:r>
            <a:endParaRPr lang="en-US" sz="4200" dirty="0"/>
          </a:p>
        </p:txBody>
      </p:sp>
      <p:sp>
        <p:nvSpPr>
          <p:cNvPr id="6" name="Text 2"/>
          <p:cNvSpPr/>
          <p:nvPr/>
        </p:nvSpPr>
        <p:spPr>
          <a:xfrm>
            <a:off x="713232" y="2450592"/>
            <a:ext cx="566928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EFECE4"/>
                </a:solidFill>
              </a:rPr>
              <a:t>STARTUP INVESTMENT COMPOUND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731520" y="294436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EFECE4"/>
                </a:solidFill>
              </a:rPr>
              <a:t>An event built like a startup.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731520" y="3520440"/>
            <a:ext cx="1005840" cy="0"/>
          </a:xfrm>
          <a:prstGeom prst="line">
            <a:avLst/>
          </a:prstGeom>
          <a:noFill/>
          <a:ln w="30480">
            <a:solidFill>
              <a:srgbClr val="E85B2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" y="3767328"/>
            <a:ext cx="57607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EFEC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Configure capability. Change the risk. Convert into investment.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749808" y="4709160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E85B22"/>
                </a:solidFill>
              </a:rPr>
              <a:t>29 October 2026  •  Dusit Thani Manila, Makati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12</Slides>
  <Notes>12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12</vt:i4>
      </vt:variant>
    </vt:vector>
  </HeadingPairs>
  <TitlesOfParts>
    <vt:vector size="13" baseType="lpstr"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ICCPI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FORGE PH — Startup Investment Compound Pitch</dc:title>
  <dc:subject>FORGE PH pitch deck</dc:subject>
  <dc:creator>OpenAI</dc:creator>
  <cp:lastModifiedBy>Stefano Giordani</cp:lastModifiedBy>
  <cp:revision>2</cp:revision>
  <dcterms:created xsi:type="dcterms:W3CDTF">2026-09-12T09:01:03Z</dcterms:created>
  <dcterms:modified xsi:type="dcterms:W3CDTF">2026-09-13T04:29:58Z</dcterms:modified>
</cp:coreProperties>
</file>